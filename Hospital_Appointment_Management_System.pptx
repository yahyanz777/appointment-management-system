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233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6832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500063"/>
            <a:ext cx="1214438" cy="439340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1778794" y="500063"/>
            <a:ext cx="7144" cy="4393406"/>
          </a:xfrm>
          <a:prstGeom prst="rect">
            <a:avLst/>
          </a:prstGeom>
          <a:solidFill>
            <a:srgbClr val="B3B7B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71500" y="500063"/>
            <a:ext cx="985838" cy="7200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72000"/>
              </a:lnSpc>
              <a:buNone/>
            </a:pPr>
            <a:r>
              <a:rPr lang="en-US" sz="5800" b="1" kern="0" spc="-6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5800" dirty="0"/>
          </a:p>
        </p:txBody>
      </p:sp>
      <p:sp>
        <p:nvSpPr>
          <p:cNvPr id="6" name="Text 3"/>
          <p:cNvSpPr/>
          <p:nvPr/>
        </p:nvSpPr>
        <p:spPr>
          <a:xfrm>
            <a:off x="571500" y="4614863"/>
            <a:ext cx="985838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b="1" kern="0" spc="2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
PRESENTATION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2185988" y="1301502"/>
            <a:ext cx="63865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REVIEW · PYTHON APPLICATION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2185988" y="1615827"/>
            <a:ext cx="5857875" cy="8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78400"/>
              </a:lnSpc>
              <a:buNone/>
            </a:pPr>
            <a:r>
              <a:rPr lang="en-US" sz="3300" b="1" kern="0" spc="-2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Appointment Management System</a:t>
            </a:r>
            <a:endParaRPr lang="en-US" sz="3300" dirty="0"/>
          </a:p>
        </p:txBody>
      </p:sp>
      <p:sp>
        <p:nvSpPr>
          <p:cNvPr id="9" name="Text 6"/>
          <p:cNvSpPr/>
          <p:nvPr/>
        </p:nvSpPr>
        <p:spPr>
          <a:xfrm>
            <a:off x="2185988" y="2711946"/>
            <a:ext cx="5357813" cy="501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74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lightweight workflow for patient records, hospital services, and appointment scheduling.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2185988" y="3942011"/>
            <a:ext cx="4714875" cy="235744"/>
          </a:xfrm>
          <a:prstGeom prst="rect">
            <a:avLst/>
          </a:prstGeom>
          <a:noFill/>
          <a:ln/>
        </p:spPr>
        <p:txBody>
          <a:bodyPr wrap="square" lIns="0" tIns="136017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history, architecture, functionality, testing, and demonstration path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14338"/>
            <a:ext cx="978694" cy="6789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70400"/>
              </a:lnSpc>
              <a:buNone/>
            </a:pPr>
            <a:r>
              <a:rPr lang="en-US" sz="5600" b="1" kern="0" spc="-6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5600" dirty="0"/>
          </a:p>
        </p:txBody>
      </p:sp>
      <p:sp>
        <p:nvSpPr>
          <p:cNvPr id="4" name="Text 1"/>
          <p:cNvSpPr/>
          <p:nvPr/>
        </p:nvSpPr>
        <p:spPr>
          <a:xfrm>
            <a:off x="571500" y="4894920"/>
            <a:ext cx="978694" cy="248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600" b="1" kern="0" spc="2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
PROJECT EXISTS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2185988" y="428625"/>
            <a:ext cx="63865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RATIONALE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2185988" y="642938"/>
            <a:ext cx="5429250" cy="3194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3200"/>
              </a:lnSpc>
              <a:buNone/>
            </a:pPr>
            <a:r>
              <a:rPr lang="en-US" sz="2150" b="1" kern="0" spc="-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workflow for a small hospital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2185988" y="1376735"/>
            <a:ext cx="1071563" cy="6119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3457575" y="1376735"/>
            <a:ext cx="5114925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25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 is easy to fragment.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3457575" y="1630338"/>
            <a:ext cx="5114925" cy="358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5600"/>
              </a:lnSpc>
              <a:buNone/>
            </a:pPr>
            <a:r>
              <a:rPr lang="en-US" sz="1000" dirty="0">
                <a:solidFill>
                  <a:srgbClr val="374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 details, service definitions, and appointments become difficult to coordinate when they are maintained separately or manually.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185988" y="2267248"/>
            <a:ext cx="1071563" cy="6119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3457575" y="2267248"/>
            <a:ext cx="5114925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25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the workflow explicit.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457575" y="2520851"/>
            <a:ext cx="5114925" cy="358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5600"/>
              </a:lnSpc>
              <a:buNone/>
            </a:pPr>
            <a:r>
              <a:rPr lang="en-US" sz="1000" dirty="0">
                <a:solidFill>
                  <a:srgbClr val="374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system joins patient records, hospital services, and appointment actions in one lightweight local application.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185988" y="3157761"/>
            <a:ext cx="1071563" cy="6119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3457575" y="3157761"/>
            <a:ext cx="5114925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25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 avoidable errors.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3457575" y="3411364"/>
            <a:ext cx="5114925" cy="358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5600"/>
              </a:lnSpc>
              <a:buNone/>
            </a:pPr>
            <a:r>
              <a:rPr lang="en-US" sz="1000" dirty="0">
                <a:solidFill>
                  <a:srgbClr val="374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Validation, future-date checks, conflict prevention, and two interfaces make the core process easier to execute consistently.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185988" y="4112568"/>
            <a:ext cx="638651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README: project scope and stated key features.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14338"/>
            <a:ext cx="978694" cy="6789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70400"/>
              </a:lnSpc>
              <a:buNone/>
            </a:pPr>
            <a:r>
              <a:rPr lang="en-US" sz="5600" b="1" kern="0" spc="-6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5600" dirty="0"/>
          </a:p>
        </p:txBody>
      </p:sp>
      <p:sp>
        <p:nvSpPr>
          <p:cNvPr id="4" name="Text 1"/>
          <p:cNvSpPr/>
          <p:nvPr/>
        </p:nvSpPr>
        <p:spPr>
          <a:xfrm>
            <a:off x="571500" y="4894920"/>
            <a:ext cx="978694" cy="248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600" b="1" kern="0" spc="2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
SYSTEM DOES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2185988" y="428625"/>
            <a:ext cx="63865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SCOPE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2185988" y="642938"/>
            <a:ext cx="6386513" cy="3120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3200"/>
              </a:lnSpc>
              <a:buNone/>
            </a:pPr>
            <a:r>
              <a:rPr lang="en-US" sz="2100" b="1" kern="0" spc="-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modules form the core workflow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2185988" y="1362168"/>
            <a:ext cx="1950244" cy="3343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72000"/>
              </a:lnSpc>
              <a:buNone/>
            </a:pPr>
            <a:r>
              <a:rPr lang="en-US" sz="2650" b="1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2185988" y="1882211"/>
            <a:ext cx="1950244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2185988" y="2175104"/>
            <a:ext cx="1950244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dirty="0">
                <a:solidFill>
                  <a:srgbClr val="374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Register, view, update, and delete records with basic name, phone, and email validation.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185988" y="2960917"/>
            <a:ext cx="1950244" cy="125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b="1" kern="0" spc="1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 PATIENT DIRECTORY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4486275" y="1362168"/>
            <a:ext cx="1778794" cy="3343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72000"/>
              </a:lnSpc>
              <a:buNone/>
            </a:pPr>
            <a:r>
              <a:rPr lang="en-US" sz="2650" b="1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50" dirty="0"/>
          </a:p>
        </p:txBody>
      </p:sp>
      <p:sp>
        <p:nvSpPr>
          <p:cNvPr id="12" name="Text 9"/>
          <p:cNvSpPr/>
          <p:nvPr/>
        </p:nvSpPr>
        <p:spPr>
          <a:xfrm>
            <a:off x="4486275" y="1882211"/>
            <a:ext cx="1778794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486275" y="2175104"/>
            <a:ext cx="1778794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dirty="0">
                <a:solidFill>
                  <a:srgbClr val="374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and manage clinical services with consultation fees and session durations.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486275" y="2960917"/>
            <a:ext cx="1778794" cy="250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b="1" kern="0" spc="1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CONFIGURABLE SERVICE CATALOG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6615113" y="1362168"/>
            <a:ext cx="1785938" cy="3343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72000"/>
              </a:lnSpc>
              <a:buNone/>
            </a:pPr>
            <a:r>
              <a:rPr lang="en-US" sz="2650" b="1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50" dirty="0"/>
          </a:p>
        </p:txBody>
      </p:sp>
      <p:sp>
        <p:nvSpPr>
          <p:cNvPr id="16" name="Text 13"/>
          <p:cNvSpPr/>
          <p:nvPr/>
        </p:nvSpPr>
        <p:spPr>
          <a:xfrm>
            <a:off x="6615113" y="1882211"/>
            <a:ext cx="1785938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Appointments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615113" y="2175104"/>
            <a:ext cx="1785938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dirty="0">
                <a:solidFill>
                  <a:srgbClr val="374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Book, list, cancel, resolve IDs to names, and reject invalid or conflicting bookings.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615113" y="2960917"/>
            <a:ext cx="1785938" cy="125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b="1" kern="0" spc="1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SAFER SCHEDULING PROCESS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2185988" y="3569587"/>
            <a:ext cx="6386513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End-to-end:</a:t>
            </a:r>
            <a:r>
              <a:rPr lang="en-US" sz="1150" dirty="0">
                <a:solidFill>
                  <a:srgbClr val="374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register the patient → define the service → book or cancel the appointment.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185988" y="3908915"/>
            <a:ext cx="638651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README key features and module implementations on the final main branch.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00050"/>
            <a:ext cx="978694" cy="6789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70400"/>
              </a:lnSpc>
              <a:buNone/>
            </a:pPr>
            <a:r>
              <a:rPr lang="en-US" sz="5600" b="1" kern="0" spc="-6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5600" dirty="0"/>
          </a:p>
        </p:txBody>
      </p:sp>
      <p:sp>
        <p:nvSpPr>
          <p:cNvPr id="4" name="Text 1"/>
          <p:cNvSpPr/>
          <p:nvPr/>
        </p:nvSpPr>
        <p:spPr>
          <a:xfrm>
            <a:off x="571500" y="4894920"/>
            <a:ext cx="978694" cy="248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600" b="1" kern="0" spc="2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
SYSTEM IS BUILT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2185988" y="421481"/>
            <a:ext cx="63865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DESIGN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2185988" y="628650"/>
            <a:ext cx="5857875" cy="629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100" b="1" kern="0" spc="-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Layered architecture keeps responsibilities separate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2185988" y="1653332"/>
            <a:ext cx="121443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1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INTERFACE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3557588" y="1622413"/>
            <a:ext cx="3429000" cy="1725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115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Tkinter GUI + Terminal menus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143750" y="1565821"/>
            <a:ext cx="1428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74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Collect user actions and display records.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557588" y="1988753"/>
            <a:ext cx="3429000" cy="1542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64000"/>
              </a:lnSpc>
              <a:buNone/>
            </a:pPr>
            <a:r>
              <a:rPr lang="en-US" sz="1350" b="1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143750" y="2019449"/>
            <a:ext cx="1428750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b="1" kern="0" spc="1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</a:t>
            </a:r>
            <a:endParaRPr lang="en-US" sz="550" dirty="0"/>
          </a:p>
        </p:txBody>
      </p:sp>
      <p:sp>
        <p:nvSpPr>
          <p:cNvPr id="12" name="Text 9"/>
          <p:cNvSpPr/>
          <p:nvPr/>
        </p:nvSpPr>
        <p:spPr>
          <a:xfrm>
            <a:off x="2185988" y="2360563"/>
            <a:ext cx="121443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1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RULES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3557588" y="2329644"/>
            <a:ext cx="3429000" cy="1725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115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classes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143750" y="2201614"/>
            <a:ext cx="14287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74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 input, enforce scheduling rules, and coordinate use cases.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3557588" y="2695984"/>
            <a:ext cx="3429000" cy="1542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64000"/>
              </a:lnSpc>
              <a:buNone/>
            </a:pPr>
            <a:r>
              <a:rPr lang="en-US" sz="1350" b="1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7143750" y="2726680"/>
            <a:ext cx="1428750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b="1" kern="0" spc="1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/ WRITE</a:t>
            </a:r>
            <a:endParaRPr lang="en-US" sz="550" dirty="0"/>
          </a:p>
        </p:txBody>
      </p:sp>
      <p:sp>
        <p:nvSpPr>
          <p:cNvPr id="17" name="Text 14"/>
          <p:cNvSpPr/>
          <p:nvPr/>
        </p:nvSpPr>
        <p:spPr>
          <a:xfrm>
            <a:off x="2185988" y="3067794"/>
            <a:ext cx="121443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1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PERSISTENCE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3557588" y="3036875"/>
            <a:ext cx="3429000" cy="1725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115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handlers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7143750" y="2980283"/>
            <a:ext cx="1428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74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 CRUD operations and serialize application records.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557588" y="3403216"/>
            <a:ext cx="3429000" cy="1542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64000"/>
              </a:lnSpc>
              <a:buNone/>
            </a:pPr>
            <a:r>
              <a:rPr lang="en-US" sz="1350" b="1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7143750" y="3433911"/>
            <a:ext cx="1428750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b="1" kern="0" spc="1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 LOCALLY</a:t>
            </a:r>
            <a:endParaRPr lang="en-US" sz="550" dirty="0"/>
          </a:p>
        </p:txBody>
      </p:sp>
      <p:sp>
        <p:nvSpPr>
          <p:cNvPr id="22" name="Text 19"/>
          <p:cNvSpPr/>
          <p:nvPr/>
        </p:nvSpPr>
        <p:spPr>
          <a:xfrm>
            <a:off x="2185988" y="3778597"/>
            <a:ext cx="121443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1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DATA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3557588" y="3747678"/>
            <a:ext cx="3429000" cy="1725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115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and CSV files under /data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7143750" y="3691086"/>
            <a:ext cx="1428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374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customers.txt · services.txt · appointments.txt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2185988" y="4244727"/>
            <a:ext cx="20145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2185988" y="4401889"/>
            <a:ext cx="2014538" cy="411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800" dirty="0">
                <a:solidFill>
                  <a:srgbClr val="374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Dataclasses define the patient/customer, service, and appointment records passed between layers.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371975" y="4244727"/>
            <a:ext cx="20145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PATHS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4371975" y="4401889"/>
            <a:ext cx="2014538" cy="274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800" dirty="0">
                <a:solidFill>
                  <a:srgbClr val="374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shared module creates the data directory and exposes centralized file locations.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557963" y="4244727"/>
            <a:ext cx="20145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6557963" y="4401889"/>
            <a:ext cx="2014538" cy="274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800" dirty="0">
                <a:solidFill>
                  <a:srgbClr val="374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Unittest modules exercise models, persistence, business rules, and terminal behavior.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2185988" y="4963288"/>
            <a:ext cx="638651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final main-branch package structure and README architecture section.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14338"/>
            <a:ext cx="978694" cy="6789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70400"/>
              </a:lnSpc>
              <a:buNone/>
            </a:pPr>
            <a:r>
              <a:rPr lang="en-US" sz="5600" b="1" kern="0" spc="-6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5600" dirty="0"/>
          </a:p>
        </p:txBody>
      </p:sp>
      <p:sp>
        <p:nvSpPr>
          <p:cNvPr id="4" name="Text 1"/>
          <p:cNvSpPr/>
          <p:nvPr/>
        </p:nvSpPr>
        <p:spPr>
          <a:xfrm>
            <a:off x="571500" y="4894920"/>
            <a:ext cx="978694" cy="248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600" b="1" kern="0" spc="2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
STRUCTURE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2185988" y="428625"/>
            <a:ext cx="66865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MODEL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2185988" y="642938"/>
            <a:ext cx="5857875" cy="3120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3200"/>
              </a:lnSpc>
              <a:buNone/>
            </a:pPr>
            <a:r>
              <a:rPr lang="en-US" sz="2100" b="1" kern="0" spc="-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is small, explicit, and connected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2185988" y="1612199"/>
            <a:ext cx="1785938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2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01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2185988" y="1822940"/>
            <a:ext cx="1785938" cy="4349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145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
record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2185988" y="2465096"/>
            <a:ext cx="1785938" cy="1917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5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r>
              <a:rPr lang="en-US" sz="900" dirty="0">
                <a:solidFill>
                  <a:srgbClr val="374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name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2185988" y="2656861"/>
            <a:ext cx="1785938" cy="1881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00" dirty="0">
                <a:solidFill>
                  <a:srgbClr val="374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phone, email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185988" y="2845054"/>
            <a:ext cx="1785938" cy="1917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00" dirty="0">
                <a:solidFill>
                  <a:srgbClr val="374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Stored by the code as </a:t>
            </a:r>
            <a:r>
              <a:rPr lang="en-US" sz="85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926551" y="2274782"/>
            <a:ext cx="605098" cy="82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00" b="1" kern="0" spc="1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CUSTOMER_ID</a:t>
            </a:r>
            <a:endParaRPr lang="en-US" sz="500" dirty="0"/>
          </a:p>
        </p:txBody>
      </p:sp>
      <p:sp>
        <p:nvSpPr>
          <p:cNvPr id="13" name="Text 10"/>
          <p:cNvSpPr/>
          <p:nvPr/>
        </p:nvSpPr>
        <p:spPr>
          <a:xfrm>
            <a:off x="4493419" y="1562193"/>
            <a:ext cx="2071688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50" b="1" kern="0" spc="2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CONNECTOR ENTITY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4493419" y="1772934"/>
            <a:ext cx="2071688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Appointment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4722019" y="2119406"/>
            <a:ext cx="1614488" cy="1917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5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r>
              <a:rPr lang="en-US" sz="900" dirty="0">
                <a:solidFill>
                  <a:srgbClr val="374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customer_id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722019" y="2311171"/>
            <a:ext cx="1614488" cy="1881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00" dirty="0">
                <a:solidFill>
                  <a:srgbClr val="374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service_id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722019" y="2499364"/>
            <a:ext cx="1614488" cy="1881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00" dirty="0">
                <a:solidFill>
                  <a:srgbClr val="374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date, start time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722019" y="2687557"/>
            <a:ext cx="1614488" cy="1881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00" dirty="0">
                <a:solidFill>
                  <a:srgbClr val="374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status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578333" y="2274782"/>
            <a:ext cx="502127" cy="82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500" b="1" kern="0" spc="1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SERVICE_ID</a:t>
            </a:r>
            <a:endParaRPr lang="en-US" sz="500" dirty="0"/>
          </a:p>
        </p:txBody>
      </p:sp>
      <p:sp>
        <p:nvSpPr>
          <p:cNvPr id="20" name="Text 17"/>
          <p:cNvSpPr/>
          <p:nvPr/>
        </p:nvSpPr>
        <p:spPr>
          <a:xfrm>
            <a:off x="7086600" y="1612199"/>
            <a:ext cx="1785938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2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03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7086600" y="1822940"/>
            <a:ext cx="1785938" cy="2174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145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7086600" y="2247602"/>
            <a:ext cx="1785938" cy="19176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5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r>
              <a:rPr lang="en-US" sz="900" dirty="0">
                <a:solidFill>
                  <a:srgbClr val="374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name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7086600" y="2439367"/>
            <a:ext cx="1785938" cy="1881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00" dirty="0">
                <a:solidFill>
                  <a:srgbClr val="374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086600" y="2627561"/>
            <a:ext cx="1785938" cy="1881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00" dirty="0">
                <a:solidFill>
                  <a:srgbClr val="374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duration_minutes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2185988" y="3605306"/>
            <a:ext cx="1357313" cy="388553"/>
          </a:xfrm>
          <a:prstGeom prst="rect">
            <a:avLst/>
          </a:prstGeom>
          <a:noFill/>
          <a:ln/>
        </p:spPr>
        <p:txBody>
          <a:bodyPr wrap="square" lIns="0" tIns="34036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1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PERSISTENCE</a:t>
            </a:r>
            <a:endParaRPr lang="en-US" sz="650" dirty="0"/>
          </a:p>
        </p:txBody>
      </p:sp>
      <p:sp>
        <p:nvSpPr>
          <p:cNvPr id="26" name="Text 23"/>
          <p:cNvSpPr/>
          <p:nvPr/>
        </p:nvSpPr>
        <p:spPr>
          <a:xfrm>
            <a:off x="3743325" y="3605306"/>
            <a:ext cx="5107781" cy="388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800"/>
              </a:lnSpc>
              <a:buNone/>
            </a:pPr>
            <a:r>
              <a:rPr lang="en-US" sz="1050" dirty="0">
                <a:solidFill>
                  <a:srgbClr val="374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 and service records use pipe-delimited local text files; appointments use CSV rows, preserving the link through identifiers and a status field.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2185988" y="4136734"/>
            <a:ext cx="668655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models, file handlers, storage paths, and appointment service on the final main branch.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00050"/>
            <a:ext cx="1207294" cy="6789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70400"/>
              </a:lnSpc>
              <a:buNone/>
            </a:pPr>
            <a:r>
              <a:rPr lang="en-US" sz="5600" b="1" kern="0" spc="-6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5600" dirty="0"/>
          </a:p>
        </p:txBody>
      </p:sp>
      <p:sp>
        <p:nvSpPr>
          <p:cNvPr id="4" name="Text 1"/>
          <p:cNvSpPr/>
          <p:nvPr/>
        </p:nvSpPr>
        <p:spPr>
          <a:xfrm>
            <a:off x="571500" y="4894920"/>
            <a:ext cx="1207294" cy="248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600" b="1" kern="0" spc="2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RULES
IN ACTION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2185988" y="414338"/>
            <a:ext cx="70651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APPOINTMENT SERVICE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2185988" y="614363"/>
            <a:ext cx="7065169" cy="3090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2400"/>
              </a:lnSpc>
              <a:buNone/>
            </a:pPr>
            <a:r>
              <a:rPr lang="en-US" sz="2100" b="1" kern="0" spc="-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logic protects data quality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2185988" y="1209135"/>
            <a:ext cx="371475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400" b="1" kern="0" spc="-1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657475" y="1209135"/>
            <a:ext cx="3886200" cy="1274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85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valid identifiers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2657475" y="1365182"/>
            <a:ext cx="3886200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800" dirty="0">
                <a:solidFill>
                  <a:srgbClr val="374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 and service IDs must be positive integers before the booking process continues.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185988" y="1709198"/>
            <a:ext cx="371475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400" b="1" kern="0" spc="-1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657475" y="1709198"/>
            <a:ext cx="3886200" cy="1274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85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date and time format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2657475" y="1865244"/>
            <a:ext cx="3886200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800" dirty="0">
                <a:solidFill>
                  <a:srgbClr val="374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service accepts only YYYY-MM-DD and HH:MM input patterns.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185988" y="2209260"/>
            <a:ext cx="371475" cy="430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400" b="1" kern="0" spc="-1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657475" y="2209260"/>
            <a:ext cx="3886200" cy="1274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85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 past appointments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2657475" y="2365307"/>
            <a:ext cx="3886200" cy="274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800" dirty="0">
                <a:solidFill>
                  <a:srgbClr val="374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combined appointment date and start time must be later than the current local date and time.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185988" y="2725285"/>
            <a:ext cx="371475" cy="430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400" b="1" kern="0" spc="-1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2657475" y="2725285"/>
            <a:ext cx="3886200" cy="1274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85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linked records exist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2657475" y="2881331"/>
            <a:ext cx="3886200" cy="274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800" dirty="0">
                <a:solidFill>
                  <a:srgbClr val="374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Injected checker functions verify that the selected patient and service are available in their own modules.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2185988" y="3241309"/>
            <a:ext cx="371475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400" b="1" kern="0" spc="-1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2657475" y="3241309"/>
            <a:ext cx="3886200" cy="1274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85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 active slot conflicts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2657475" y="3397355"/>
            <a:ext cx="3886200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800" dirty="0">
                <a:solidFill>
                  <a:srgbClr val="374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active booking cannot reuse the same service, date, and start time combination.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2185988" y="3741372"/>
            <a:ext cx="371475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400" b="1" kern="0" spc="-1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2657475" y="3741372"/>
            <a:ext cx="3886200" cy="1274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85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 a traceable status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2657475" y="3897418"/>
            <a:ext cx="3886200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2400"/>
              </a:lnSpc>
              <a:buNone/>
            </a:pPr>
            <a:r>
              <a:rPr lang="en-US" sz="800" dirty="0">
                <a:solidFill>
                  <a:srgbClr val="374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successful record starts as scheduled; cancellation updates the same record to cancelled.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7036594" y="1287717"/>
            <a:ext cx="221456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kern="0" spc="2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BEHAVIOR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7036594" y="1630617"/>
            <a:ext cx="2214563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50" b="1" kern="0" spc="-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7036594" y="1912795"/>
            <a:ext cx="2214563" cy="459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7200"/>
              </a:lnSpc>
              <a:buNone/>
            </a:pPr>
            <a:r>
              <a:rPr lang="en-US" sz="850" dirty="0">
                <a:solidFill>
                  <a:srgbClr val="374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 appointments are stored in the CSV file and continue to reserve their service-specific slot.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7036594" y="2557965"/>
            <a:ext cx="221456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600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036594" y="2958015"/>
            <a:ext cx="2214563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50" b="1" kern="0" spc="-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Cancelled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7036594" y="3240193"/>
            <a:ext cx="2214563" cy="306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7200"/>
              </a:lnSpc>
              <a:buNone/>
            </a:pPr>
            <a:r>
              <a:rPr lang="en-US" sz="850" dirty="0">
                <a:solidFill>
                  <a:srgbClr val="374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Cancellation preserves the record for history but removes it from future slot-conflict checks.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7036594" y="3732219"/>
            <a:ext cx="2214563" cy="498723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marL="0" indent="0" algn="l">
              <a:lnSpc>
                <a:spcPct val="110400"/>
              </a:lnSpc>
              <a:buNone/>
            </a:pPr>
            <a:r>
              <a:rPr lang="en-US" sz="6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implication: the system preserves operational history without permanently blocking a reusable time slot.</a:t>
            </a:r>
            <a:endParaRPr lang="en-US" sz="650" dirty="0"/>
          </a:p>
        </p:txBody>
      </p:sp>
      <p:sp>
        <p:nvSpPr>
          <p:cNvPr id="32" name="Text 29"/>
          <p:cNvSpPr/>
          <p:nvPr/>
        </p:nvSpPr>
        <p:spPr>
          <a:xfrm>
            <a:off x="2185988" y="4545267"/>
            <a:ext cx="7065169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r>
              <a:rPr lang="en-US" sz="600" b="1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app/services/appointment_service.py</a:t>
            </a:r>
            <a:r>
              <a:rPr lang="en-US" sz="600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r>
              <a:rPr lang="en-US" sz="600" b="1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app/file_handlers/appointment_file_handler.py</a:t>
            </a:r>
            <a:r>
              <a:rPr lang="en-US" sz="600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the final main branch.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00050"/>
            <a:ext cx="978694" cy="6789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70400"/>
              </a:lnSpc>
              <a:buNone/>
            </a:pPr>
            <a:r>
              <a:rPr lang="en-US" sz="5600" b="1" kern="0" spc="-6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5600" dirty="0"/>
          </a:p>
        </p:txBody>
      </p:sp>
      <p:sp>
        <p:nvSpPr>
          <p:cNvPr id="4" name="Text 1"/>
          <p:cNvSpPr/>
          <p:nvPr/>
        </p:nvSpPr>
        <p:spPr>
          <a:xfrm>
            <a:off x="571500" y="4894920"/>
            <a:ext cx="978694" cy="248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600" b="1" kern="0" spc="2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
EXPERIENCE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2185988" y="414338"/>
            <a:ext cx="63865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MODES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2185988" y="628650"/>
            <a:ext cx="6386513" cy="3120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3200"/>
              </a:lnSpc>
              <a:buNone/>
            </a:pPr>
            <a:r>
              <a:rPr lang="en-US" sz="2100" b="1" kern="0" spc="-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interfaces share the same business rules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2185988" y="1340737"/>
            <a:ext cx="2950369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2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WORKFLOW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2185988" y="1580052"/>
            <a:ext cx="29503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45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Tkinter GUI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2185988" y="1887234"/>
            <a:ext cx="2714625" cy="727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7200"/>
              </a:lnSpc>
              <a:buNone/>
            </a:pPr>
            <a:r>
              <a:rPr lang="en-US" sz="1000" dirty="0">
                <a:solidFill>
                  <a:srgbClr val="374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 tabs organize Patients, Services, and Appointments. Treeviews make records readable; buttons and dialogs communicate actions and validation feedback.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185988" y="2743144"/>
            <a:ext cx="2950369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b="1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Tabs · forms · tables · confirmation dialogs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5629275" y="1340737"/>
            <a:ext cx="2943225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2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WORKFLOW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5629275" y="1580052"/>
            <a:ext cx="294322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45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menus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629275" y="1887234"/>
            <a:ext cx="2714625" cy="727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7200"/>
              </a:lnSpc>
              <a:buNone/>
            </a:pPr>
            <a:r>
              <a:rPr lang="en-US" sz="1000" dirty="0">
                <a:solidFill>
                  <a:srgbClr val="374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menus route users through the same patient, service, booking, cancellation, update, and listing tasks using clear prompts and printed outcomes.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629275" y="2743144"/>
            <a:ext cx="2943225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b="1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Menus · prompts · lists · validation messages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2185988" y="3476718"/>
            <a:ext cx="1214438" cy="5971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1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CORE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3586163" y="3476718"/>
            <a:ext cx="498633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6400"/>
              </a:lnSpc>
              <a:buNone/>
            </a:pPr>
            <a:r>
              <a:rPr lang="en-US" sz="125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paths call the service layer.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3586163" y="3726749"/>
            <a:ext cx="4986338" cy="347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dirty="0">
                <a:solidFill>
                  <a:srgbClr val="374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 and persistence are centralized in the service and file-handler classes, so the underlying scheduling behavior stays consistent even when the user experience changes.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2185988" y="4245341"/>
            <a:ext cx="333580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2519567" y="4231053"/>
            <a:ext cx="37259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607D8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main.py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2892158" y="4245341"/>
            <a:ext cx="51234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2943392" y="4231053"/>
            <a:ext cx="425779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607D8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app/gui/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3369171" y="4245341"/>
            <a:ext cx="51234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3420405" y="4231053"/>
            <a:ext cx="691883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607D8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app/terminal/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4112289" y="4245341"/>
            <a:ext cx="225196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4337484" y="4231053"/>
            <a:ext cx="691883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607D8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app/services/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5029367" y="4245341"/>
            <a:ext cx="1009055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final main branch.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00050"/>
            <a:ext cx="978694" cy="6789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70400"/>
              </a:lnSpc>
              <a:buNone/>
            </a:pPr>
            <a:r>
              <a:rPr lang="en-US" sz="5600" b="1" kern="0" spc="-6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5600" dirty="0"/>
          </a:p>
        </p:txBody>
      </p:sp>
      <p:sp>
        <p:nvSpPr>
          <p:cNvPr id="4" name="Text 1"/>
          <p:cNvSpPr/>
          <p:nvPr/>
        </p:nvSpPr>
        <p:spPr>
          <a:xfrm>
            <a:off x="571500" y="4894920"/>
            <a:ext cx="978694" cy="248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600" b="1" kern="0" spc="2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
TEAM DELIVERED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2185988" y="414338"/>
            <a:ext cx="63865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EVOLUTION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2185988" y="628650"/>
            <a:ext cx="6143625" cy="3120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3200"/>
              </a:lnSpc>
              <a:buNone/>
            </a:pPr>
            <a:r>
              <a:rPr lang="en-US" sz="2100" b="1" kern="0" spc="-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Branches show incremental team delivery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2185988" y="1040699"/>
            <a:ext cx="516018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5600"/>
              </a:lnSpc>
              <a:buNone/>
            </a:pPr>
            <a:r>
              <a:rPr lang="en-US" sz="1000" dirty="0">
                <a:solidFill>
                  <a:srgbClr val="374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commit history moves from a GUI skeleton to integrated patient, service, and appointment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185988" y="1226995"/>
            <a:ext cx="278187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5600"/>
              </a:lnSpc>
              <a:buNone/>
            </a:pPr>
            <a:r>
              <a:rPr lang="en-US" sz="1000" dirty="0">
                <a:solidFill>
                  <a:srgbClr val="374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management—then documents the final system 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967864" y="1201992"/>
            <a:ext cx="32576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5600"/>
              </a:lnSpc>
              <a:buNone/>
            </a:pPr>
            <a:r>
              <a:rPr lang="en-US" sz="1000" dirty="0">
                <a:solidFill>
                  <a:srgbClr val="37474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main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293630" y="1226995"/>
            <a:ext cx="3393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5600"/>
              </a:lnSpc>
              <a:buNone/>
            </a:pPr>
            <a:r>
              <a:rPr lang="en-US" sz="1000" dirty="0">
                <a:solidFill>
                  <a:srgbClr val="374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185988" y="1849059"/>
            <a:ext cx="115583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kern="0" spc="1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AUG 2026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2185988" y="2049084"/>
            <a:ext cx="77169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9600"/>
              </a:lnSpc>
              <a:buNone/>
            </a:pPr>
            <a:r>
              <a:rPr lang="en-US" sz="750" b="1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developer-1-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2185988" y="2194080"/>
            <a:ext cx="51446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9600"/>
              </a:lnSpc>
              <a:buNone/>
            </a:pPr>
            <a:r>
              <a:rPr lang="en-US" sz="750" b="1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2185988" y="2403370"/>
            <a:ext cx="1155836" cy="433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dirty="0">
                <a:solidFill>
                  <a:srgbClr val="374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Established the Tkinter GUI skeleton and application entry point.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463268" y="1849059"/>
            <a:ext cx="115583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kern="0" spc="1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AUG 2026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3463268" y="2049084"/>
            <a:ext cx="51446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9600"/>
              </a:lnSpc>
              <a:buNone/>
            </a:pPr>
            <a:r>
              <a:rPr lang="en-US" sz="750" b="1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3463268" y="2194080"/>
            <a:ext cx="45016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9600"/>
              </a:lnSpc>
              <a:buNone/>
            </a:pPr>
            <a:r>
              <a:rPr lang="en-US" sz="750" b="1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updates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3463268" y="2403370"/>
            <a:ext cx="1155836" cy="433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dirty="0">
                <a:solidFill>
                  <a:srgbClr val="374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Corrected patient persistence logic, terminal behavior, and unit tests.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740548" y="1849059"/>
            <a:ext cx="1155892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kern="0" spc="1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AUG 2026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4740548" y="2049084"/>
            <a:ext cx="77169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9600"/>
              </a:lnSpc>
              <a:buNone/>
            </a:pPr>
            <a:r>
              <a:rPr lang="en-US" sz="750" b="1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developer-2-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4740548" y="2194080"/>
            <a:ext cx="45016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9600"/>
              </a:lnSpc>
              <a:buNone/>
            </a:pPr>
            <a:r>
              <a:rPr lang="en-US" sz="750" b="1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4740548" y="2403370"/>
            <a:ext cx="1155892" cy="433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dirty="0">
                <a:solidFill>
                  <a:srgbClr val="374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Integrated service management with its interface and test work.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017884" y="1849059"/>
            <a:ext cx="115583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kern="0" spc="1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AUG 2026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6017884" y="2049084"/>
            <a:ext cx="77169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9600"/>
              </a:lnSpc>
              <a:buNone/>
            </a:pPr>
            <a:r>
              <a:rPr lang="en-US" sz="750" b="1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developer-3-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6017884" y="2194080"/>
            <a:ext cx="70739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9600"/>
              </a:lnSpc>
              <a:buNone/>
            </a:pPr>
            <a:r>
              <a:rPr lang="en-US" sz="750" b="1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appointment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6017884" y="2403370"/>
            <a:ext cx="1155836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dirty="0">
                <a:solidFill>
                  <a:srgbClr val="374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Refined appointment interfaces and standardized user-facing Patient terminology.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7295164" y="1849059"/>
            <a:ext cx="127733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kern="0" spc="1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AUG 2026</a:t>
            </a:r>
            <a:endParaRPr lang="en-US" sz="600" dirty="0"/>
          </a:p>
        </p:txBody>
      </p:sp>
      <p:sp>
        <p:nvSpPr>
          <p:cNvPr id="28" name="Text 25"/>
          <p:cNvSpPr/>
          <p:nvPr/>
        </p:nvSpPr>
        <p:spPr>
          <a:xfrm>
            <a:off x="7295164" y="2049084"/>
            <a:ext cx="25723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9600"/>
              </a:lnSpc>
              <a:buNone/>
            </a:pPr>
            <a:r>
              <a:rPr lang="en-US" sz="750" b="1" dirty="0">
                <a:solidFill>
                  <a:srgbClr val="26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7295164" y="2258374"/>
            <a:ext cx="1277336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dirty="0">
                <a:solidFill>
                  <a:srgbClr val="374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Merged feature work and finalized README scope, architecture, and setup guidance.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2185988" y="3977897"/>
            <a:ext cx="1071563" cy="343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kern="0" spc="1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3429000" y="3977897"/>
            <a:ext cx="5143500" cy="343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5600"/>
              </a:lnSpc>
              <a:buNone/>
            </a:pPr>
            <a:r>
              <a:rPr lang="en-US" sz="9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branches, 17 commits, one final application.</a:t>
            </a:r>
            <a:r>
              <a:rPr lang="en-US" sz="950" dirty="0">
                <a:solidFill>
                  <a:srgbClr val="3747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Switching through branch tips makes the collaborative progression visible and traceable.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185988" y="4456640"/>
            <a:ext cx="6386513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607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Git branch tips and commit history reviewed from the public repository.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1033</Words>
  <Application>Microsoft Office PowerPoint</Application>
  <PresentationFormat>On-screen Show (16:9)</PresentationFormat>
  <Paragraphs>184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Courier New</vt:lpstr>
      <vt:lpstr>Georgia</vt:lpstr>
      <vt:lpstr>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Yahia Nader Zakaria</cp:lastModifiedBy>
  <cp:revision>2</cp:revision>
  <dcterms:created xsi:type="dcterms:W3CDTF">2026-08-15T17:56:56Z</dcterms:created>
  <dcterms:modified xsi:type="dcterms:W3CDTF">2026-08-15T18:34:17Z</dcterms:modified>
</cp:coreProperties>
</file>